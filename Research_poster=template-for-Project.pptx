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40288" cy="42840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B19F"/>
    <a:srgbClr val="404040"/>
    <a:srgbClr val="969696"/>
    <a:srgbClr val="FFFFFF"/>
    <a:srgbClr val="D79831"/>
    <a:srgbClr val="E7C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110FC9-F2F7-A9F8-34EC-90D4271A1116}" v="4" dt="2025-12-30T16:00:47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445" y="-331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Phan" userId="a3bb8e266d346be0" providerId="Windows Live" clId="Web-{4C110FC9-F2F7-A9F8-34EC-90D4271A1116}"/>
    <pc:docChg chg="modSld">
      <pc:chgData name="Ryan Phan" userId="a3bb8e266d346be0" providerId="Windows Live" clId="Web-{4C110FC9-F2F7-A9F8-34EC-90D4271A1116}" dt="2025-12-30T16:00:47.322" v="3" actId="20577"/>
      <pc:docMkLst>
        <pc:docMk/>
      </pc:docMkLst>
      <pc:sldChg chg="modSp">
        <pc:chgData name="Ryan Phan" userId="a3bb8e266d346be0" providerId="Windows Live" clId="Web-{4C110FC9-F2F7-A9F8-34EC-90D4271A1116}" dt="2025-12-30T16:00:47.322" v="3" actId="20577"/>
        <pc:sldMkLst>
          <pc:docMk/>
          <pc:sldMk cId="3336671571" sldId="256"/>
        </pc:sldMkLst>
        <pc:spChg chg="mod">
          <ac:chgData name="Ryan Phan" userId="a3bb8e266d346be0" providerId="Windows Live" clId="Web-{4C110FC9-F2F7-A9F8-34EC-90D4271A1116}" dt="2025-12-30T16:00:47.322" v="3" actId="20577"/>
          <ac:spMkLst>
            <pc:docMk/>
            <pc:sldMk cId="3336671571" sldId="256"/>
            <ac:spMk id="27" creationId="{4C1C8B38-6084-433B-AE48-73C5ACDA09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56854-A303-4130-A6EB-280E1CE5DB55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9975" y="1143000"/>
            <a:ext cx="217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CB63B-62A2-496A-8E62-FD8E46DC19A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359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911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821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732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643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553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464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374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1285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CB63B-62A2-496A-8E62-FD8E46DC19A1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88199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7011132"/>
            <a:ext cx="25704245" cy="14914762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501064"/>
            <a:ext cx="22680216" cy="10343147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937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423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80331"/>
            <a:ext cx="26082248" cy="17820361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69280"/>
            <a:ext cx="26082248" cy="9371307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0781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404240"/>
            <a:ext cx="12852122" cy="27181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404240"/>
            <a:ext cx="12852122" cy="27181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142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80857"/>
            <a:ext cx="26082248" cy="8280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501820"/>
            <a:ext cx="12793057" cy="514678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48601"/>
            <a:ext cx="12793057" cy="23016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501820"/>
            <a:ext cx="12856061" cy="514678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48601"/>
            <a:ext cx="12856061" cy="23016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092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591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562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6018"/>
            <a:ext cx="9753280" cy="999606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68216"/>
            <a:ext cx="15309146" cy="30444362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52082"/>
            <a:ext cx="9753280" cy="23810073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078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6018"/>
            <a:ext cx="9753280" cy="999606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68216"/>
            <a:ext cx="15309146" cy="30444362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52082"/>
            <a:ext cx="9753280" cy="23810073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27463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169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80848"/>
            <a:ext cx="6520562" cy="363051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80848"/>
            <a:ext cx="19183683" cy="363051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3912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80857"/>
            <a:ext cx="26082248" cy="828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404240"/>
            <a:ext cx="26082248" cy="2718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706598"/>
            <a:ext cx="6804065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67A01-3607-4F67-BD28-898B3BDB0F1F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706598"/>
            <a:ext cx="10206097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706598"/>
            <a:ext cx="6804065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BBC34-8B9B-426B-9BAC-C99237A3AB9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129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jpg"/><Relationship Id="rId5" Type="http://schemas.openxmlformats.org/officeDocument/2006/relationships/image" Target="../media/image2.png"/><Relationship Id="rId10" Type="http://schemas.openxmlformats.org/officeDocument/2006/relationships/image" Target="../media/image7.jp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557E518-F47A-8121-66D6-54409ECE8EFE}"/>
              </a:ext>
            </a:extLst>
          </p:cNvPr>
          <p:cNvSpPr/>
          <p:nvPr/>
        </p:nvSpPr>
        <p:spPr>
          <a:xfrm>
            <a:off x="-61680" y="40691924"/>
            <a:ext cx="30240288" cy="2300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D798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noProof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D56441-A910-A3E0-EB1F-A8AB6A31DE40}"/>
              </a:ext>
            </a:extLst>
          </p:cNvPr>
          <p:cNvSpPr/>
          <p:nvPr/>
        </p:nvSpPr>
        <p:spPr>
          <a:xfrm>
            <a:off x="1" y="0"/>
            <a:ext cx="23880771" cy="2752225"/>
          </a:xfrm>
          <a:prstGeom prst="rect">
            <a:avLst/>
          </a:prstGeom>
          <a:solidFill>
            <a:srgbClr val="D79831"/>
          </a:solidFill>
          <a:ln>
            <a:solidFill>
              <a:srgbClr val="D798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noProof="1"/>
              <a:t>Final Project in NT522 course– Machine Learning in Cybersecurity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102773-D0EB-FC6C-A9B5-B146F53154EA}"/>
              </a:ext>
            </a:extLst>
          </p:cNvPr>
          <p:cNvSpPr/>
          <p:nvPr/>
        </p:nvSpPr>
        <p:spPr>
          <a:xfrm>
            <a:off x="0" y="2567874"/>
            <a:ext cx="30240288" cy="651374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5331B-7E15-EB56-E2ED-B5426C04F62B}"/>
              </a:ext>
            </a:extLst>
          </p:cNvPr>
          <p:cNvSpPr txBox="1"/>
          <p:nvPr/>
        </p:nvSpPr>
        <p:spPr>
          <a:xfrm>
            <a:off x="944478" y="3703970"/>
            <a:ext cx="28184986" cy="13415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8000" b="1" noProof="1">
                <a:solidFill>
                  <a:schemeClr val="bg1"/>
                </a:solidFill>
                <a:latin typeface="Arial"/>
                <a:cs typeface="Arial"/>
              </a:rPr>
              <a:t>The Security of Large Language Model (Attack LLM)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1ECDEE-9B04-1567-3B42-19C2B2CECB8A}"/>
              </a:ext>
            </a:extLst>
          </p:cNvPr>
          <p:cNvSpPr txBox="1"/>
          <p:nvPr/>
        </p:nvSpPr>
        <p:spPr>
          <a:xfrm>
            <a:off x="5243830" y="5636053"/>
            <a:ext cx="19446240" cy="24767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en-US" sz="4500" noProof="1">
                <a:solidFill>
                  <a:schemeClr val="bg1"/>
                </a:solidFill>
                <a:latin typeface="Arial"/>
                <a:cs typeface="Arial"/>
              </a:rPr>
              <a:t>Nguyễn Gia Luân (23520896), Dương Phước Nhật Nam (23520968), Lương Hoàng Long (23520879), Lê Minh (23520928)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en-US" sz="4500" i="1" noProof="1">
                <a:solidFill>
                  <a:schemeClr val="bg1"/>
                </a:solidFill>
                <a:latin typeface="Arial"/>
                <a:cs typeface="Arial"/>
              </a:rPr>
              <a:t>Group ID: G04, Project ID: CK17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1C8B38-6084-433B-AE48-73C5ACDA0981}"/>
              </a:ext>
            </a:extLst>
          </p:cNvPr>
          <p:cNvSpPr/>
          <p:nvPr/>
        </p:nvSpPr>
        <p:spPr>
          <a:xfrm>
            <a:off x="2565862" y="40691924"/>
            <a:ext cx="25328339" cy="23007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D798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 b="1" i="0" noProof="1">
                <a:solidFill>
                  <a:schemeClr val="tx1"/>
                </a:solidFill>
                <a:effectLst/>
                <a:latin typeface="Arial"/>
                <a:cs typeface="Arial"/>
              </a:rPr>
              <a:t>A project at NT522 course – Semester </a:t>
            </a:r>
            <a:r>
              <a:rPr lang="en-US" sz="3600" b="1" noProof="1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en-US" sz="3600" b="1" i="0" noProof="1">
                <a:solidFill>
                  <a:schemeClr val="tx1"/>
                </a:solidFill>
                <a:effectLst/>
                <a:latin typeface="Arial"/>
                <a:cs typeface="Arial"/>
              </a:rPr>
              <a:t> – School Year of </a:t>
            </a:r>
            <a:r>
              <a:rPr lang="en-US" sz="3600" b="1" noProof="1">
                <a:solidFill>
                  <a:schemeClr val="tx1"/>
                </a:solidFill>
                <a:latin typeface="Arial"/>
                <a:cs typeface="Arial"/>
              </a:rPr>
              <a:t>2025-2026</a:t>
            </a:r>
            <a:r>
              <a:rPr lang="en-US" sz="3600" b="1" i="0" noProof="1">
                <a:solidFill>
                  <a:schemeClr val="tx1"/>
                </a:solidFill>
                <a:effectLst/>
                <a:latin typeface="Arial"/>
                <a:cs typeface="Arial"/>
              </a:rPr>
              <a:t>, UIT-VNUHCM– Copyright: UIT InSecLab</a:t>
            </a:r>
            <a:endParaRPr lang="en-US" sz="3600" b="1" noProof="1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DD6C16-5D92-78DB-EB28-4E58B5CC6F0A}"/>
              </a:ext>
            </a:extLst>
          </p:cNvPr>
          <p:cNvGrpSpPr/>
          <p:nvPr/>
        </p:nvGrpSpPr>
        <p:grpSpPr>
          <a:xfrm>
            <a:off x="1322699" y="9493214"/>
            <a:ext cx="27674423" cy="6224857"/>
            <a:chOff x="1322699" y="9513319"/>
            <a:chExt cx="27674423" cy="657391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621A289-AE51-D273-82E5-52BC76507F56}"/>
                </a:ext>
              </a:extLst>
            </p:cNvPr>
            <p:cNvSpPr/>
            <p:nvPr/>
          </p:nvSpPr>
          <p:spPr>
            <a:xfrm>
              <a:off x="1322699" y="9513319"/>
              <a:ext cx="27674423" cy="6573914"/>
            </a:xfrm>
            <a:prstGeom prst="roundRect">
              <a:avLst>
                <a:gd name="adj" fmla="val 4156"/>
              </a:avLst>
            </a:prstGeom>
            <a:noFill/>
            <a:ln w="38100">
              <a:solidFill>
                <a:srgbClr val="D7983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0" rIns="36576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5600" b="1" noProof="1">
                  <a:solidFill>
                    <a:srgbClr val="D798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  <a:p>
              <a:pPr algn="just">
                <a:lnSpc>
                  <a:spcPct val="150000"/>
                </a:lnSpc>
              </a:pPr>
              <a:r>
                <a:rPr lang="en-US" sz="40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 Language Models (LLMs) have played an integral part of the society, assisting in both education and work. However, LLMs are vulnerable against </a:t>
              </a:r>
              <a:r>
                <a:rPr lang="en-US" sz="4000" b="1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jailbreak prompts</a:t>
              </a:r>
              <a:r>
                <a:rPr lang="en-US" sz="40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which are designed to make LLMs perform illegal operations. To address this, </a:t>
              </a:r>
              <a:r>
                <a:rPr lang="en-US" sz="4000" b="1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GPTFuzzer, </a:t>
              </a:r>
              <a:r>
                <a:rPr lang="en-US" sz="40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blackbox framework that can generate </a:t>
              </a:r>
              <a:r>
                <a:rPr lang="en-US" sz="4000" b="1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jailbreak template</a:t>
              </a:r>
              <a:r>
                <a:rPr lang="en-US" sz="40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which can consequently help LLMs identify existing and novel jailbreak prompts, ultimately improving the defense mechanism of LLMs.</a:t>
              </a:r>
              <a:endParaRPr lang="en-US" sz="40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3A72C4-A871-28B2-5A1A-8669CBEC0907}"/>
                </a:ext>
              </a:extLst>
            </p:cNvPr>
            <p:cNvCxnSpPr>
              <a:cxnSpLocks/>
            </p:cNvCxnSpPr>
            <p:nvPr/>
          </p:nvCxnSpPr>
          <p:spPr>
            <a:xfrm>
              <a:off x="1794548" y="11167490"/>
              <a:ext cx="6142893" cy="0"/>
            </a:xfrm>
            <a:prstGeom prst="line">
              <a:avLst/>
            </a:prstGeom>
            <a:ln w="76200">
              <a:solidFill>
                <a:srgbClr val="D79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F2699C-BD78-3D47-F7D4-8067439CE120}"/>
              </a:ext>
            </a:extLst>
          </p:cNvPr>
          <p:cNvGrpSpPr/>
          <p:nvPr/>
        </p:nvGrpSpPr>
        <p:grpSpPr>
          <a:xfrm>
            <a:off x="15705611" y="16439518"/>
            <a:ext cx="13305688" cy="17800764"/>
            <a:chOff x="15705611" y="18157804"/>
            <a:chExt cx="13305688" cy="14938393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881F181-05E0-3ACE-E50D-65D40CD8C8D5}"/>
                </a:ext>
              </a:extLst>
            </p:cNvPr>
            <p:cNvSpPr/>
            <p:nvPr/>
          </p:nvSpPr>
          <p:spPr>
            <a:xfrm>
              <a:off x="15705611" y="18157804"/>
              <a:ext cx="13305688" cy="14938393"/>
            </a:xfrm>
            <a:prstGeom prst="roundRect">
              <a:avLst>
                <a:gd name="adj" fmla="val 4156"/>
              </a:avLst>
            </a:prstGeom>
            <a:noFill/>
            <a:ln w="38100">
              <a:solidFill>
                <a:srgbClr val="D7983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0" rIns="365760" bIns="0" rtlCol="0" anchor="ctr"/>
            <a:lstStyle/>
            <a:p>
              <a:pPr algn="just">
                <a:lnSpc>
                  <a:spcPct val="140000"/>
                </a:lnSpc>
                <a:spcBef>
                  <a:spcPts val="3000"/>
                </a:spcBef>
              </a:pPr>
              <a:endParaRPr lang="en-US" sz="4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40000"/>
                </a:lnSpc>
                <a:spcBef>
                  <a:spcPts val="3000"/>
                </a:spcBef>
              </a:pPr>
              <a:endParaRPr lang="en-US" sz="4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40000"/>
                </a:lnSpc>
                <a:spcBef>
                  <a:spcPts val="3000"/>
                </a:spcBef>
              </a:pPr>
              <a:r>
                <a:rPr lang="en-US" sz="4000" dirty="0" err="1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GPTFuzzer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has the following procedure: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Seed initialization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Seed selection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Mutation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and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Execution.</a:t>
              </a:r>
            </a:p>
            <a:p>
              <a:pPr marL="742950" indent="-742950" algn="just">
                <a:lnSpc>
                  <a:spcPct val="140000"/>
                </a:lnSpc>
                <a:spcBef>
                  <a:spcPts val="3000"/>
                </a:spcBef>
                <a:buAutoNum type="arabicPeriod"/>
              </a:pP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Seed initialization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Initial dataset including handwritten jailbreak templates.</a:t>
              </a:r>
              <a:endParaRPr lang="en-US" sz="4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42950" indent="-742950" algn="just">
                <a:lnSpc>
                  <a:spcPct val="140000"/>
                </a:lnSpc>
                <a:spcBef>
                  <a:spcPts val="3000"/>
                </a:spcBef>
                <a:buAutoNum type="arabicPeriod"/>
              </a:pP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Seed selection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Uses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MCTS-Explore 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algorithm to ensure good seeds are prioritized, while also occasionally exploring other potential seeds. </a:t>
              </a:r>
              <a:endParaRPr lang="en-US" sz="4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42950" indent="-742950" algn="just">
                <a:lnSpc>
                  <a:spcPct val="140000"/>
                </a:lnSpc>
                <a:spcBef>
                  <a:spcPts val="3000"/>
                </a:spcBef>
                <a:buAutoNum type="arabicPeriod"/>
              </a:pP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Mutation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Generate new jailbreak templates after seed selection. There are five mutation operators: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Crossover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Rephrase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Expand 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Shorten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This process uses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Qwen2.5-7B-Instruct 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generate jailbreak templates.</a:t>
              </a:r>
              <a:endParaRPr lang="en-US" sz="4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42950" indent="-742950" algn="just">
                <a:lnSpc>
                  <a:spcPct val="140000"/>
                </a:lnSpc>
                <a:spcBef>
                  <a:spcPts val="3000"/>
                </a:spcBef>
                <a:buAutoNum type="arabicPeriod"/>
              </a:pP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Execution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Uses </a:t>
              </a:r>
              <a:r>
                <a:rPr lang="en-US" sz="4000" b="1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Llama3.2-3B-Instruct</a:t>
              </a:r>
              <a:r>
                <a:rPr lang="en-US" sz="4000" dirty="0">
                  <a:solidFill>
                    <a:srgbClr val="4040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as the target model and the original paper’s model as the judgment model to classify successful and failed jailbreak prompts.</a:t>
              </a:r>
              <a:endParaRPr lang="en-US" sz="4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40000"/>
                </a:lnSpc>
                <a:spcBef>
                  <a:spcPts val="3000"/>
                </a:spcBef>
              </a:pPr>
              <a:endParaRPr lang="en-US" sz="3800" b="1" noProof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6147EE8-507B-830E-DB8D-4A14DF79D93B}"/>
                </a:ext>
              </a:extLst>
            </p:cNvPr>
            <p:cNvCxnSpPr>
              <a:cxnSpLocks/>
            </p:cNvCxnSpPr>
            <p:nvPr/>
          </p:nvCxnSpPr>
          <p:spPr>
            <a:xfrm>
              <a:off x="16055961" y="19248632"/>
              <a:ext cx="3084533" cy="0"/>
            </a:xfrm>
            <a:prstGeom prst="line">
              <a:avLst/>
            </a:prstGeom>
            <a:ln w="76200">
              <a:solidFill>
                <a:srgbClr val="D79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388DCE-CB06-1037-CC77-490A9FE370BC}"/>
              </a:ext>
            </a:extLst>
          </p:cNvPr>
          <p:cNvGrpSpPr/>
          <p:nvPr/>
        </p:nvGrpSpPr>
        <p:grpSpPr>
          <a:xfrm>
            <a:off x="1322699" y="27125359"/>
            <a:ext cx="13714272" cy="13273265"/>
            <a:chOff x="47069212" y="21377506"/>
            <a:chExt cx="13702098" cy="107174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F4D83CD-82DF-F52D-D740-44681AE8DD1D}"/>
                </a:ext>
              </a:extLst>
            </p:cNvPr>
            <p:cNvSpPr/>
            <p:nvPr/>
          </p:nvSpPr>
          <p:spPr>
            <a:xfrm>
              <a:off x="47069212" y="21377506"/>
              <a:ext cx="13702098" cy="10717400"/>
            </a:xfrm>
            <a:prstGeom prst="roundRect">
              <a:avLst>
                <a:gd name="adj" fmla="val 4156"/>
              </a:avLst>
            </a:prstGeom>
            <a:noFill/>
            <a:ln w="38100">
              <a:solidFill>
                <a:srgbClr val="D7983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0" rIns="365760" bIns="0" rtlCol="0" anchor="ctr"/>
            <a:lstStyle/>
            <a:p>
              <a:pPr marL="571500" indent="-571500" algn="just">
                <a:lnSpc>
                  <a:spcPct val="150000"/>
                </a:lnSpc>
                <a:spcBef>
                  <a:spcPts val="2400"/>
                </a:spcBef>
                <a:buFont typeface="Wingdings" panose="05000000000000000000" pitchFamily="2" charset="2"/>
                <a:buChar char="§"/>
              </a:pPr>
              <a:endParaRPr lang="en-US" sz="4000" noProof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E1203D-1BEF-8E22-23F6-5AF89015FF11}"/>
                </a:ext>
              </a:extLst>
            </p:cNvPr>
            <p:cNvCxnSpPr/>
            <p:nvPr/>
          </p:nvCxnSpPr>
          <p:spPr>
            <a:xfrm>
              <a:off x="47535189" y="22305511"/>
              <a:ext cx="6142893" cy="0"/>
            </a:xfrm>
            <a:prstGeom prst="line">
              <a:avLst/>
            </a:prstGeom>
            <a:ln w="76200">
              <a:solidFill>
                <a:srgbClr val="D79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6EF8A0C-3D8D-0B84-F759-4B677104E66E}"/>
              </a:ext>
            </a:extLst>
          </p:cNvPr>
          <p:cNvSpPr txBox="1"/>
          <p:nvPr/>
        </p:nvSpPr>
        <p:spPr>
          <a:xfrm>
            <a:off x="820406" y="25599167"/>
            <a:ext cx="137142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800" b="1" i="1" noProof="1">
              <a:effectLst/>
              <a:latin typeface="Arial" panose="020B0604020202020204" pitchFamily="34" charset="0"/>
            </a:endParaRPr>
          </a:p>
          <a:p>
            <a:pPr algn="ctr"/>
            <a:endParaRPr lang="en-US" sz="2800" b="1" i="1" noProof="1">
              <a:latin typeface="Arial" panose="020B0604020202020204" pitchFamily="34" charset="0"/>
            </a:endParaRPr>
          </a:p>
          <a:p>
            <a:pPr algn="ctr"/>
            <a:r>
              <a:rPr lang="en-US" sz="2800" b="1" i="1" noProof="1">
                <a:latin typeface="Arial" panose="020B0604020202020204" pitchFamily="34" charset="0"/>
              </a:rPr>
              <a:t>Figure 1: </a:t>
            </a:r>
            <a:r>
              <a:rPr lang="en-US" sz="2800" i="1" noProof="1">
                <a:latin typeface="Arial" panose="020B0604020202020204" pitchFamily="34" charset="0"/>
              </a:rPr>
              <a:t>GPTFuzzer workflow</a:t>
            </a:r>
            <a:endParaRPr lang="en-US" sz="2800" i="1" noProof="1"/>
          </a:p>
        </p:txBody>
      </p:sp>
      <p:pic>
        <p:nvPicPr>
          <p:cNvPr id="9" name="Picture 2" descr="Káº¿t quáº£ hÃ¬nh áº£nh cho uit logo png">
            <a:extLst>
              <a:ext uri="{FF2B5EF4-FFF2-40B4-BE49-F238E27FC236}">
                <a16:creationId xmlns:a16="http://schemas.microsoft.com/office/drawing/2014/main" id="{9691DA5A-7402-D09F-0377-011AE4A80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107"/>
          <a:stretch/>
        </p:blipFill>
        <p:spPr bwMode="auto">
          <a:xfrm>
            <a:off x="315558" y="40974317"/>
            <a:ext cx="2029818" cy="1725057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184BCEEC-C35C-74CF-5D52-1B9481226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8315" y="428501"/>
            <a:ext cx="1850475" cy="185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9F6254-7B4B-6576-6A39-53F16A47D5CA}"/>
              </a:ext>
            </a:extLst>
          </p:cNvPr>
          <p:cNvSpPr txBox="1"/>
          <p:nvPr/>
        </p:nvSpPr>
        <p:spPr>
          <a:xfrm>
            <a:off x="15766144" y="39349323"/>
            <a:ext cx="77733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1" noProof="1">
                <a:latin typeface="Arial" panose="020B0604020202020204" pitchFamily="34" charset="0"/>
                <a:cs typeface="Arial" panose="020B0604020202020204" pitchFamily="34" charset="0"/>
              </a:rPr>
              <a:t>Figure 2: </a:t>
            </a:r>
            <a:r>
              <a:rPr lang="en-US" sz="2800" i="1" noProof="1">
                <a:latin typeface="Arial" panose="020B0604020202020204" pitchFamily="34" charset="0"/>
                <a:cs typeface="Arial" panose="020B0604020202020204" pitchFamily="34" charset="0"/>
              </a:rPr>
              <a:t>Success rate of each operator</a:t>
            </a:r>
            <a:r>
              <a:rPr lang="en-US" sz="2800" b="0" i="1" noProof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i="1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020ED4-724B-6B16-FD1C-AAA5374FEB3D}"/>
              </a:ext>
            </a:extLst>
          </p:cNvPr>
          <p:cNvSpPr txBox="1"/>
          <p:nvPr/>
        </p:nvSpPr>
        <p:spPr>
          <a:xfrm>
            <a:off x="23539457" y="39311903"/>
            <a:ext cx="61690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1" noProof="1">
                <a:latin typeface="Arial" panose="020B0604020202020204" pitchFamily="34" charset="0"/>
                <a:cs typeface="Arial" panose="020B0604020202020204" pitchFamily="34" charset="0"/>
              </a:rPr>
              <a:t>Figure 3: </a:t>
            </a:r>
            <a:r>
              <a:rPr lang="en-US" sz="2800" i="1" noProof="1">
                <a:latin typeface="Arial" panose="020B0604020202020204" pitchFamily="34" charset="0"/>
                <a:cs typeface="Arial" panose="020B0604020202020204" pitchFamily="34" charset="0"/>
              </a:rPr>
              <a:t>Comparing the performance between different operators</a:t>
            </a:r>
          </a:p>
        </p:txBody>
      </p:sp>
      <p:pic>
        <p:nvPicPr>
          <p:cNvPr id="12" name="Picture 11" descr="A yellow beetle with a skull on it&#10;&#10;AI-generated content may be incorrect.">
            <a:extLst>
              <a:ext uri="{FF2B5EF4-FFF2-40B4-BE49-F238E27FC236}">
                <a16:creationId xmlns:a16="http://schemas.microsoft.com/office/drawing/2014/main" id="{FB279549-C53B-A4B1-4BD8-C35C24B1D6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8790" y="40892538"/>
            <a:ext cx="2029818" cy="202981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61E60E-1429-10C8-327B-4542E10966B4}"/>
              </a:ext>
            </a:extLst>
          </p:cNvPr>
          <p:cNvSpPr/>
          <p:nvPr/>
        </p:nvSpPr>
        <p:spPr>
          <a:xfrm>
            <a:off x="15766144" y="15383666"/>
            <a:ext cx="13305688" cy="3108544"/>
          </a:xfrm>
          <a:prstGeom prst="roundRect">
            <a:avLst>
              <a:gd name="adj" fmla="val 4156"/>
            </a:avLst>
          </a:prstGeom>
          <a:noFill/>
          <a:ln w="38100"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0" rtlCol="0" anchor="ctr"/>
          <a:lstStyle/>
          <a:p>
            <a:pPr algn="just">
              <a:lnSpc>
                <a:spcPct val="150000"/>
              </a:lnSpc>
            </a:pPr>
            <a:r>
              <a:rPr lang="en-US" sz="5600" b="1" noProof="1">
                <a:solidFill>
                  <a:srgbClr val="D798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539648-D337-0938-863F-736E77AFBF08}"/>
              </a:ext>
            </a:extLst>
          </p:cNvPr>
          <p:cNvSpPr/>
          <p:nvPr/>
        </p:nvSpPr>
        <p:spPr>
          <a:xfrm>
            <a:off x="1405873" y="26915114"/>
            <a:ext cx="13714272" cy="1322413"/>
          </a:xfrm>
          <a:prstGeom prst="roundRect">
            <a:avLst>
              <a:gd name="adj" fmla="val 4156"/>
            </a:avLst>
          </a:prstGeom>
          <a:noFill/>
          <a:ln w="38100"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0" rtlCol="0" anchor="ctr"/>
          <a:lstStyle/>
          <a:p>
            <a:pPr algn="just">
              <a:lnSpc>
                <a:spcPct val="150000"/>
              </a:lnSpc>
            </a:pPr>
            <a:r>
              <a:rPr lang="en-US" sz="5600" b="1" noProof="1">
                <a:solidFill>
                  <a:srgbClr val="D798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Experiments and Results</a:t>
            </a:r>
          </a:p>
        </p:txBody>
      </p:sp>
      <p:sp>
        <p:nvSpPr>
          <p:cNvPr id="17" name="AutoShape 4" descr="Logo UIT PITO">
            <a:extLst>
              <a:ext uri="{FF2B5EF4-FFF2-40B4-BE49-F238E27FC236}">
                <a16:creationId xmlns:a16="http://schemas.microsoft.com/office/drawing/2014/main" id="{5DF7ECF1-7058-980D-23D2-B4C442B7A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66950" y="212677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6AA66A3-BF1D-5696-0BB0-EF60673C1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7457" y="678088"/>
            <a:ext cx="1850475" cy="149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Khoa Mạng máy tính và Truyền thông - UIT.NC">
            <a:extLst>
              <a:ext uri="{FF2B5EF4-FFF2-40B4-BE49-F238E27FC236}">
                <a16:creationId xmlns:a16="http://schemas.microsoft.com/office/drawing/2014/main" id="{3F95E8CA-ACF8-FBA3-636C-AD0444B62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5263" y="340408"/>
            <a:ext cx="210502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D437FE-8173-98A0-6194-C2826787EF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240" y="16000634"/>
            <a:ext cx="10645350" cy="1030360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C19760D-0678-E94D-F725-12F524484F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0922" y="34310598"/>
            <a:ext cx="8020050" cy="50387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DD3F6C3-0EC9-FD75-9D4B-C229EA361B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4924" y="34310598"/>
            <a:ext cx="5943600" cy="454342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6794815-999F-E2FB-B756-99F206CA2B61}"/>
              </a:ext>
            </a:extLst>
          </p:cNvPr>
          <p:cNvSpPr txBox="1"/>
          <p:nvPr/>
        </p:nvSpPr>
        <p:spPr>
          <a:xfrm>
            <a:off x="1794548" y="28567974"/>
            <a:ext cx="12740130" cy="11704424"/>
          </a:xfrm>
          <a:prstGeom prst="rect">
            <a:avLst/>
          </a:prstGeom>
          <a:noFill/>
        </p:spPr>
        <p:txBody>
          <a:bodyPr wrap="square" lIns="365760" tIns="0" rIns="365760" bIns="0" rtlCol="0" anchor="t" anchorCtr="0">
            <a:noAutofit/>
          </a:bodyPr>
          <a:lstStyle/>
          <a:p>
            <a:pPr marL="742950" indent="-742950" algn="just">
              <a:lnSpc>
                <a:spcPct val="14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: The paper tested 600 times, with 136 times on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Crossover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as the mutation operator, 125 times on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Shorten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123 times on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Rephrase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113 times on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Generate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and the remaining 104 times on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Expand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Overall result: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experiment has 53 successful runs, achieving a success rate of 8.33%.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Mutation operators’ efficiency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Out of all selected runs,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Expand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is the best at 21.15%, followed by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Crossover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Rephrase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Generate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at 7.35%, 7.32% and 7.08%.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Shorten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is the worst at 3.2%.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Comparing operators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Expand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proves to be the best, taking 41.5% of all successful runs, followed by Crossover, Rephrase, Generate and Shorten respectively. 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67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926</TotalTime>
  <Words>412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Lonely Wolf</dc:creator>
  <cp:lastModifiedBy>Nhật Nam Dương Phúc</cp:lastModifiedBy>
  <cp:revision>20</cp:revision>
  <dcterms:created xsi:type="dcterms:W3CDTF">2022-11-19T02:58:11Z</dcterms:created>
  <dcterms:modified xsi:type="dcterms:W3CDTF">2026-01-03T13:10:20Z</dcterms:modified>
</cp:coreProperties>
</file>